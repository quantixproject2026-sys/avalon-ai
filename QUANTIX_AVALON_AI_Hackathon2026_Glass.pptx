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AVALON AI by Team QUANTIX (DEX26180). Theme: Women Empowerment. Category: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AVALON AI connects six modules through one Pathway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Python, Streamlit, Scikit-learn, Pandas, PostgreSQL,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3A1F8F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4846320"/>
            <a:ext cx="2011680" cy="297180"/>
          </a:xfrm>
          <a:prstGeom prst="rect">
            <a:avLst/>
          </a:prstGeom>
          <a:solidFill>
            <a:srgbClr val="E8479B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19472"/>
            <a:ext cx="32004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QUANTIX  |  DEX26180  |  Hackathon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19472"/>
            <a:ext cx="457200" cy="2240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19472"/>
            <a:ext cx="457200" cy="2240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09160" y="731520"/>
            <a:ext cx="2048256" cy="3520440"/>
          </a:xfrm>
          <a:prstGeom prst="roundRect">
            <a:avLst>
              <a:gd name="adj" fmla="val 4464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3" name="Image 0" descr="/home/claude/crops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777240"/>
            <a:ext cx="1956816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75704" y="731520"/>
            <a:ext cx="2048256" cy="3520440"/>
          </a:xfrm>
          <a:prstGeom prst="roundRect">
            <a:avLst>
              <a:gd name="adj" fmla="val 4464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5" name="Image 1" descr="/home/claude/crops/t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21424" y="777240"/>
            <a:ext cx="1956816" cy="3429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6858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479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57200" y="685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10972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AVALON AI</a:t>
            </a:r>
            <a:endParaRPr lang="en-US" sz="5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1965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Women's Empowerment Intelligence Network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choices. Connecting opportunities. Supporting independence.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383280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0352" y="3474720"/>
            <a:ext cx="54864" cy="292608"/>
          </a:xfrm>
          <a:prstGeom prst="rect">
            <a:avLst/>
          </a:prstGeom>
          <a:solidFill>
            <a:srgbClr val="5B34C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6656" y="3383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QUANTIX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560320" y="3383280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33472" y="3474720"/>
            <a:ext cx="54864" cy="292608"/>
          </a:xfrm>
          <a:prstGeom prst="rect">
            <a:avLst/>
          </a:prstGeom>
          <a:solidFill>
            <a:srgbClr val="E8479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779776" y="3383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DEX26180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7200" y="3931920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0352" y="4023360"/>
            <a:ext cx="54864" cy="292608"/>
          </a:xfrm>
          <a:prstGeom prst="rect">
            <a:avLst/>
          </a:prstGeom>
          <a:solidFill>
            <a:srgbClr val="14A3B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76656" y="3931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Empowerment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560320" y="3931920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FFFFFF">
              <a:alpha val="18000"/>
            </a:srgbClr>
          </a:solidFill>
          <a:ln w="1905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633472" y="4023360"/>
            <a:ext cx="54864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2779776" y="3931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4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4754880" y="4389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4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Women  &gt;  Stronger Families  &gt;  A Stronger Society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1737360" cy="1737360"/>
          </a:xfrm>
          <a:prstGeom prst="ellipse">
            <a:avLst/>
          </a:prstGeom>
          <a:solidFill>
            <a:srgbClr val="FFFFFF">
              <a:alpha val="30000"/>
            </a:srgbClr>
          </a:solidFill>
          <a:ln w="254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228600"/>
            <a:ext cx="822960" cy="822960"/>
          </a:xfrm>
          <a:prstGeom prst="ellipse">
            <a:avLst/>
          </a:prstGeom>
          <a:solidFill>
            <a:srgbClr val="E8479B">
              <a:alpha val="25000"/>
            </a:srgbClr>
          </a:solidFill>
          <a:ln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1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AVALON AI - Proposed Solution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Women's Empowerment Intelligence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362456" cy="2286000"/>
          </a:xfrm>
          <a:prstGeom prst="roundRect">
            <a:avLst>
              <a:gd name="adj" fmla="val 6711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7" name="Image 0" descr="/home/claude/crops/thin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1271016" cy="2194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700784" y="960120"/>
            <a:ext cx="1362456" cy="2286000"/>
          </a:xfrm>
          <a:prstGeom prst="roundRect">
            <a:avLst>
              <a:gd name="adj" fmla="val 6711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9" name="Image 1" descr="/home/claude/crops/x_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46504" y="1005840"/>
            <a:ext cx="1271016" cy="2194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38328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FFFFFF">
              <a:alpha val="72000"/>
            </a:srgbClr>
          </a:solidFill>
          <a:ln w="15875">
            <a:solidFill>
              <a:srgbClr val="E8479B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457200" y="3419856"/>
            <a:ext cx="24688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barriers, 1 platform
</a:t>
            </a:r>
            <a:pPr indent="0" marL="0">
              <a:buNone/>
            </a:pPr>
            <a:r>
              <a:rPr lang="en-US" sz="95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Money, careers, health, rights, digital safety and opportunities are scattered today.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46120" y="960120"/>
            <a:ext cx="1801368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960120"/>
            <a:ext cx="1801368" cy="292608"/>
          </a:xfrm>
          <a:prstGeom prst="roundRect">
            <a:avLst>
              <a:gd name="adj" fmla="val 31250"/>
            </a:avLst>
          </a:prstGeom>
          <a:solidFill>
            <a:srgbClr val="5B34C9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246120" y="9601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337560" y="1298448"/>
            <a:ext cx="1618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AI-powered platform that connects a woman's goals, skills and challenges with the right resources and support.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129784" y="960120"/>
            <a:ext cx="1801368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9784" y="960120"/>
            <a:ext cx="1801368" cy="292608"/>
          </a:xfrm>
          <a:prstGeom prst="roundRect">
            <a:avLst>
              <a:gd name="adj" fmla="val 31250"/>
            </a:avLst>
          </a:prstGeom>
          <a:solidFill>
            <a:srgbClr val="E8479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129784" y="9601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solves it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221224" y="1298448"/>
            <a:ext cx="1618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Pathway Engine understands goals, finds verified resources, builds an action plan and tracks progress.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013448" y="960120"/>
            <a:ext cx="1801368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13448" y="960120"/>
            <a:ext cx="1801368" cy="292608"/>
          </a:xfrm>
          <a:prstGeom prst="roundRect">
            <a:avLst>
              <a:gd name="adj" fmla="val 31250"/>
            </a:avLst>
          </a:prstGeom>
          <a:solidFill>
            <a:srgbClr val="14A3B8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013448" y="9601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unique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7104888" y="1298448"/>
            <a:ext cx="1618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connected modules, not isolated tools. Verified sources. Tamil + English. Action plans, not just information.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246120" y="2514600"/>
            <a:ext cx="1801368" cy="1005840"/>
          </a:xfrm>
          <a:prstGeom prst="roundRect">
            <a:avLst>
              <a:gd name="adj" fmla="val 12727"/>
            </a:avLst>
          </a:prstGeom>
          <a:solidFill>
            <a:srgbClr val="D4F5E3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337560" y="2606040"/>
            <a:ext cx="457200" cy="457200"/>
          </a:xfrm>
          <a:prstGeom prst="ellipse">
            <a:avLst/>
          </a:prstGeom>
          <a:solidFill>
            <a:srgbClr val="1FA463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69748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3867912" y="25877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Financial Freedom AI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3355848" y="31181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income ideas, loan and fraud alerts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129784" y="2514600"/>
            <a:ext cx="1801368" cy="1005840"/>
          </a:xfrm>
          <a:prstGeom prst="roundRect">
            <a:avLst>
              <a:gd name="adj" fmla="val 12727"/>
            </a:avLst>
          </a:prstGeom>
          <a:solidFill>
            <a:srgbClr val="DCE8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221224" y="2606040"/>
            <a:ext cx="457200" cy="457200"/>
          </a:xfrm>
          <a:prstGeom prst="ellipse">
            <a:avLst/>
          </a:prstGeom>
          <a:solidFill>
            <a:srgbClr val="2F6FE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2697480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751576" y="25877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Career &amp; Education AI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239512" y="31181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gaps, courses and a career path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013448" y="2514600"/>
            <a:ext cx="1801368" cy="1005840"/>
          </a:xfrm>
          <a:prstGeom prst="roundRect">
            <a:avLst>
              <a:gd name="adj" fmla="val 12727"/>
            </a:avLst>
          </a:prstGeom>
          <a:solidFill>
            <a:srgbClr val="FFDDEC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104888" y="2606040"/>
            <a:ext cx="457200" cy="457200"/>
          </a:xfrm>
          <a:prstGeom prst="ellipse">
            <a:avLst/>
          </a:prstGeom>
          <a:solidFill>
            <a:srgbClr val="E8479B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269748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635240" y="25877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Health Access AI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123176" y="31181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health info, nearby care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246120" y="3611880"/>
            <a:ext cx="1801368" cy="1005840"/>
          </a:xfrm>
          <a:prstGeom prst="roundRect">
            <a:avLst>
              <a:gd name="adj" fmla="val 12727"/>
            </a:avLst>
          </a:prstGeom>
          <a:solidFill>
            <a:srgbClr val="E6DA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337560" y="3703320"/>
            <a:ext cx="457200" cy="457200"/>
          </a:xfrm>
          <a:prstGeom prst="ellipse">
            <a:avLst/>
          </a:prstGeom>
          <a:solidFill>
            <a:srgbClr val="5B34C9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794760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3867912" y="36850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3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Rights &amp; Equality AI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3355848" y="42153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Schemes, legal aid, simple explanations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5129784" y="3611880"/>
            <a:ext cx="1801368" cy="1005840"/>
          </a:xfrm>
          <a:prstGeom prst="roundRect">
            <a:avLst>
              <a:gd name="adj" fmla="val 12727"/>
            </a:avLst>
          </a:prstGeom>
          <a:solidFill>
            <a:srgbClr val="FFE6D0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5221224" y="3703320"/>
            <a:ext cx="457200" cy="457200"/>
          </a:xfrm>
          <a:prstGeom prst="ellipse">
            <a:avLst/>
          </a:prstGeom>
          <a:solidFill>
            <a:srgbClr val="F08232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3794760"/>
            <a:ext cx="274320" cy="27432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5751576" y="36850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Digital Protection AI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5239512" y="42153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checks, safety tips, alerts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7013448" y="3611880"/>
            <a:ext cx="1801368" cy="1005840"/>
          </a:xfrm>
          <a:prstGeom prst="roundRect">
            <a:avLst>
              <a:gd name="adj" fmla="val 12727"/>
            </a:avLst>
          </a:prstGeom>
          <a:solidFill>
            <a:srgbClr val="CDF1F6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7104888" y="3703320"/>
            <a:ext cx="457200" cy="457200"/>
          </a:xfrm>
          <a:prstGeom prst="ellipse">
            <a:avLst/>
          </a:prstGeom>
          <a:solidFill>
            <a:srgbClr val="14A3B8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328" y="3794760"/>
            <a:ext cx="274320" cy="274320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7635240" y="36850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Opportunity Connector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7123176" y="42153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Scholarships, jobs, verified support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19472"/>
            <a:ext cx="457200" cy="2240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1737360" cy="1737360"/>
          </a:xfrm>
          <a:prstGeom prst="ellipse">
            <a:avLst/>
          </a:prstGeom>
          <a:solidFill>
            <a:srgbClr val="FFFFFF">
              <a:alpha val="30000"/>
            </a:srgbClr>
          </a:solidFill>
          <a:ln w="254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228600"/>
            <a:ext cx="822960" cy="822960"/>
          </a:xfrm>
          <a:prstGeom prst="ellipse">
            <a:avLst/>
          </a:prstGeom>
          <a:solidFill>
            <a:srgbClr val="E8479B">
              <a:alpha val="25000"/>
            </a:srgbClr>
          </a:solidFill>
          <a:ln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1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AI. Guided by data. Built for you.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914400" cy="96012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005840"/>
            <a:ext cx="329184" cy="329184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06984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71600" y="960120"/>
            <a:ext cx="914400" cy="96012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64208" y="1005840"/>
            <a:ext cx="329184" cy="329184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106984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1371600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377440" y="960120"/>
            <a:ext cx="914400" cy="96012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670048" y="1005840"/>
            <a:ext cx="329184" cy="329184"/>
          </a:xfrm>
          <a:prstGeom prst="ellipse">
            <a:avLst/>
          </a:prstGeom>
          <a:solidFill>
            <a:srgbClr val="F0823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056" y="1069848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37744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2377440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383280" y="960120"/>
            <a:ext cx="914400" cy="96012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75888" y="1005840"/>
            <a:ext cx="329184" cy="329184"/>
          </a:xfrm>
          <a:prstGeom prst="ellipse">
            <a:avLst/>
          </a:prstGeom>
          <a:solidFill>
            <a:srgbClr val="14A3B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1069848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338328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3383280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389120" y="960120"/>
            <a:ext cx="914400" cy="96012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81728" y="1005840"/>
            <a:ext cx="329184" cy="329184"/>
          </a:xfrm>
          <a:prstGeom prst="ellipse">
            <a:avLst/>
          </a:prstGeom>
          <a:solidFill>
            <a:srgbClr val="5B34C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1069848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8912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4389120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394960" y="960120"/>
            <a:ext cx="914400" cy="96012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687568" y="1005840"/>
            <a:ext cx="329184" cy="329184"/>
          </a:xfrm>
          <a:prstGeom prst="ellipse">
            <a:avLst/>
          </a:prstGeom>
          <a:solidFill>
            <a:srgbClr val="1B103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576" y="1069848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39496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5394960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365760" y="20574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8479B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36576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731520" y="2423160"/>
            <a:ext cx="640080" cy="640080"/>
          </a:xfrm>
          <a:prstGeom prst="ellipse">
            <a:avLst/>
          </a:prstGeom>
          <a:solidFill>
            <a:srgbClr val="14A3B8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2578608"/>
            <a:ext cx="329184" cy="32918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6576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Input</a:t>
            </a:r>
            <a:endParaRPr lang="en-US" sz="1050" dirty="0"/>
          </a:p>
        </p:txBody>
      </p:sp>
      <p:sp>
        <p:nvSpPr>
          <p:cNvPr id="41" name="Text 32"/>
          <p:cNvSpPr txBox="1"/>
          <p:nvPr/>
        </p:nvSpPr>
        <p:spPr>
          <a:xfrm>
            <a:off x="365760" y="33284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needs, profile</a:t>
            </a:r>
            <a:endParaRPr lang="en-US" sz="9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8488" y="2633472"/>
            <a:ext cx="201168" cy="201168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2212848" y="2423160"/>
            <a:ext cx="640080" cy="640080"/>
          </a:xfrm>
          <a:prstGeom prst="ellipse">
            <a:avLst/>
          </a:prstGeom>
          <a:solidFill>
            <a:srgbClr val="1FA463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8296" y="2578608"/>
            <a:ext cx="329184" cy="32918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847088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Analysis</a:t>
            </a:r>
            <a:endParaRPr lang="en-US" sz="1050" dirty="0"/>
          </a:p>
        </p:txBody>
      </p:sp>
      <p:sp>
        <p:nvSpPr>
          <p:cNvPr id="46" name="Text 35"/>
          <p:cNvSpPr txBox="1"/>
          <p:nvPr/>
        </p:nvSpPr>
        <p:spPr>
          <a:xfrm>
            <a:off x="1847088" y="33284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NLP match</a:t>
            </a:r>
            <a:endParaRPr lang="en-US" sz="90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9816" y="2633472"/>
            <a:ext cx="201168" cy="201168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3694176" y="2423160"/>
            <a:ext cx="640080" cy="640080"/>
          </a:xfrm>
          <a:prstGeom prst="ellipse">
            <a:avLst/>
          </a:prstGeom>
          <a:solidFill>
            <a:srgbClr val="5B34C9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9624" y="2578608"/>
            <a:ext cx="329184" cy="329184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3328416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Recommend</a:t>
            </a:r>
            <a:endParaRPr lang="en-US" sz="1050" dirty="0"/>
          </a:p>
        </p:txBody>
      </p:sp>
      <p:sp>
        <p:nvSpPr>
          <p:cNvPr id="51" name="Text 38"/>
          <p:cNvSpPr txBox="1"/>
          <p:nvPr/>
        </p:nvSpPr>
        <p:spPr>
          <a:xfrm>
            <a:off x="3328416" y="33284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resources</a:t>
            </a:r>
            <a:endParaRPr lang="en-US" sz="90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1144" y="2633472"/>
            <a:ext cx="201168" cy="201168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5175504" y="2423160"/>
            <a:ext cx="640080" cy="640080"/>
          </a:xfrm>
          <a:prstGeom prst="ellipse">
            <a:avLst/>
          </a:prstGeom>
          <a:solidFill>
            <a:srgbClr val="E8479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0952" y="2578608"/>
            <a:ext cx="329184" cy="329184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4809744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Action Plan</a:t>
            </a:r>
            <a:endParaRPr lang="en-US" sz="1050" dirty="0"/>
          </a:p>
        </p:txBody>
      </p:sp>
      <p:sp>
        <p:nvSpPr>
          <p:cNvPr id="56" name="Text 41"/>
          <p:cNvSpPr txBox="1"/>
          <p:nvPr/>
        </p:nvSpPr>
        <p:spPr>
          <a:xfrm>
            <a:off x="4809744" y="33284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tracking</a:t>
            </a:r>
            <a:endParaRPr lang="en-US" sz="900" dirty="0"/>
          </a:p>
        </p:txBody>
      </p:sp>
      <p:sp>
        <p:nvSpPr>
          <p:cNvPr id="57" name="Shape 42"/>
          <p:cNvSpPr/>
          <p:nvPr/>
        </p:nvSpPr>
        <p:spPr>
          <a:xfrm>
            <a:off x="365760" y="365760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5B34C9"/>
          </a:solidFill>
          <a:ln/>
        </p:spPr>
      </p:sp>
      <p:sp>
        <p:nvSpPr>
          <p:cNvPr id="58" name="Text 43"/>
          <p:cNvSpPr txBox="1"/>
          <p:nvPr/>
        </p:nvSpPr>
        <p:spPr>
          <a:xfrm>
            <a:off x="36576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59" name="Shape 44"/>
          <p:cNvSpPr/>
          <p:nvPr/>
        </p:nvSpPr>
        <p:spPr>
          <a:xfrm>
            <a:off x="365760" y="4023360"/>
            <a:ext cx="1463040" cy="548640"/>
          </a:xfrm>
          <a:prstGeom prst="chevron">
            <a:avLst/>
          </a:prstGeom>
          <a:solidFill>
            <a:srgbClr val="1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45"/>
          <p:cNvSpPr txBox="1"/>
          <p:nvPr/>
        </p:nvSpPr>
        <p:spPr>
          <a:xfrm>
            <a:off x="54864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61" name="Shape 46"/>
          <p:cNvSpPr/>
          <p:nvPr/>
        </p:nvSpPr>
        <p:spPr>
          <a:xfrm>
            <a:off x="1737360" y="4023360"/>
            <a:ext cx="1463040" cy="548640"/>
          </a:xfrm>
          <a:prstGeom prst="chevron">
            <a:avLst/>
          </a:prstGeom>
          <a:solidFill>
            <a:srgbClr val="2F6F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192024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63" name="Shape 48"/>
          <p:cNvSpPr/>
          <p:nvPr/>
        </p:nvSpPr>
        <p:spPr>
          <a:xfrm>
            <a:off x="3108960" y="4023360"/>
            <a:ext cx="1463040" cy="548640"/>
          </a:xfrm>
          <a:prstGeom prst="chevron">
            <a:avLst/>
          </a:prstGeom>
          <a:solidFill>
            <a:srgbClr val="5B34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49"/>
          <p:cNvSpPr txBox="1"/>
          <p:nvPr/>
        </p:nvSpPr>
        <p:spPr>
          <a:xfrm>
            <a:off x="329184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65" name="Shape 50"/>
          <p:cNvSpPr/>
          <p:nvPr/>
        </p:nvSpPr>
        <p:spPr>
          <a:xfrm>
            <a:off x="4480560" y="4023360"/>
            <a:ext cx="1463040" cy="548640"/>
          </a:xfrm>
          <a:prstGeom prst="chevron">
            <a:avLst/>
          </a:prstGeom>
          <a:solidFill>
            <a:srgbClr val="E8479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51"/>
          <p:cNvSpPr txBox="1"/>
          <p:nvPr/>
        </p:nvSpPr>
        <p:spPr>
          <a:xfrm>
            <a:off x="466344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67" name="Shape 52"/>
          <p:cNvSpPr/>
          <p:nvPr/>
        </p:nvSpPr>
        <p:spPr>
          <a:xfrm>
            <a:off x="6492240" y="960120"/>
            <a:ext cx="1133856" cy="2194560"/>
          </a:xfrm>
          <a:prstGeom prst="roundRect">
            <a:avLst>
              <a:gd name="adj" fmla="val 8065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68" name="Image 13" descr="/home/claude/crops/x_f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537960" y="1005840"/>
            <a:ext cx="1042416" cy="2103120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7644384" y="960120"/>
            <a:ext cx="1133856" cy="2194560"/>
          </a:xfrm>
          <a:prstGeom prst="roundRect">
            <a:avLst>
              <a:gd name="adj" fmla="val 8065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70" name="Image 14" descr="/home/claude/crops/x_g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690104" y="1005840"/>
            <a:ext cx="1042416" cy="2103120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6492240" y="3154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preview</a:t>
            </a:r>
            <a:endParaRPr lang="en-US" sz="900" dirty="0"/>
          </a:p>
        </p:txBody>
      </p:sp>
      <p:sp>
        <p:nvSpPr>
          <p:cNvPr id="72" name="Shape 55"/>
          <p:cNvSpPr/>
          <p:nvPr/>
        </p:nvSpPr>
        <p:spPr>
          <a:xfrm>
            <a:off x="6492240" y="3401568"/>
            <a:ext cx="2286000" cy="1307592"/>
          </a:xfrm>
          <a:prstGeom prst="roundRect">
            <a:avLst>
              <a:gd name="adj" fmla="val 9790"/>
            </a:avLst>
          </a:prstGeom>
          <a:solidFill>
            <a:srgbClr val="FFFFFF">
              <a:alpha val="72000"/>
            </a:srgbClr>
          </a:solidFill>
          <a:ln w="15875">
            <a:solidFill>
              <a:srgbClr val="E8479B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73" name="Text 56"/>
          <p:cNvSpPr txBox="1"/>
          <p:nvPr/>
        </p:nvSpPr>
        <p:spPr>
          <a:xfrm>
            <a:off x="6583680" y="3429000"/>
            <a:ext cx="210312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features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recommendations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text classification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+ legal summaries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opportunity search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19472"/>
            <a:ext cx="457200" cy="2240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1737360" cy="1737360"/>
          </a:xfrm>
          <a:prstGeom prst="ellipse">
            <a:avLst/>
          </a:prstGeom>
          <a:solidFill>
            <a:srgbClr val="FFFFFF">
              <a:alpha val="30000"/>
            </a:srgbClr>
          </a:solidFill>
          <a:ln w="254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228600"/>
            <a:ext cx="822960" cy="822960"/>
          </a:xfrm>
          <a:prstGeom prst="ellipse">
            <a:avLst/>
          </a:prstGeom>
          <a:solidFill>
            <a:srgbClr val="E8479B">
              <a:alpha val="25000"/>
            </a:srgbClr>
          </a:solidFill>
          <a:ln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1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tools + smart logic = real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971800" cy="2194560"/>
          </a:xfrm>
          <a:prstGeom prst="roundRect">
            <a:avLst>
              <a:gd name="adj" fmla="val 5833"/>
            </a:avLst>
          </a:prstGeom>
          <a:solidFill>
            <a:srgbClr val="D4F5E3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1051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444752"/>
            <a:ext cx="2724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stack: Python, Streamlit, Scikit-learn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datasets and reliable public sources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doable by a small team in hackathon time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scalable to mobile and more languages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960120"/>
            <a:ext cx="2743200" cy="2194560"/>
          </a:xfrm>
          <a:prstGeom prst="roundRect">
            <a:avLst>
              <a:gd name="adj" fmla="val 5833"/>
            </a:avLst>
          </a:prstGeom>
          <a:solidFill>
            <a:srgbClr val="FFE6D0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51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59352" y="1051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Risks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1444752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 for full development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data sources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AI/ML models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 and trust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960120"/>
            <a:ext cx="1248156" cy="2194560"/>
          </a:xfrm>
          <a:prstGeom prst="roundRect">
            <a:avLst>
              <a:gd name="adj" fmla="val 7326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15" name="Image 2" descr="/home/claude/crops/x_c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55080" y="1005840"/>
            <a:ext cx="1156716" cy="21031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575804" y="960120"/>
            <a:ext cx="1248156" cy="2194560"/>
          </a:xfrm>
          <a:prstGeom prst="roundRect">
            <a:avLst>
              <a:gd name="adj" fmla="val 7326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17" name="Image 3" descr="/home/claude/crops/x_fu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21524" y="1005840"/>
            <a:ext cx="1156716" cy="21031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65760" y="32918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5B34C9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3657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OVERCOME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65760" y="3657600"/>
            <a:ext cx="2011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14A3B8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23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05840" y="3703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core modules first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2496312" y="3657600"/>
            <a:ext cx="2011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2587752" y="3931920"/>
            <a:ext cx="457200" cy="457200"/>
          </a:xfrm>
          <a:prstGeom prst="ellipse">
            <a:avLst/>
          </a:prstGeom>
          <a:solidFill>
            <a:srgbClr val="1FA463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192" y="402336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136392" y="3703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verified, official sources only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626864" y="3657600"/>
            <a:ext cx="2011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718304" y="3931920"/>
            <a:ext cx="457200" cy="457200"/>
          </a:xfrm>
          <a:prstGeom prst="ellipse">
            <a:avLst/>
          </a:prstGeom>
          <a:solidFill>
            <a:srgbClr val="2F6FED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02336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266944" y="3703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models with sample data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6757416" y="3657600"/>
            <a:ext cx="201168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848856" y="3931920"/>
            <a:ext cx="457200" cy="457200"/>
          </a:xfrm>
          <a:prstGeom prst="ellipse">
            <a:avLst/>
          </a:prstGeom>
          <a:solidFill>
            <a:srgbClr val="E8479B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402336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397496" y="3703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user feedback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19472"/>
            <a:ext cx="457200" cy="2240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1737360" cy="1737360"/>
          </a:xfrm>
          <a:prstGeom prst="ellipse">
            <a:avLst/>
          </a:prstGeom>
          <a:solidFill>
            <a:srgbClr val="FFFFFF">
              <a:alpha val="30000"/>
            </a:srgbClr>
          </a:solidFill>
          <a:ln w="254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228600"/>
            <a:ext cx="822960" cy="822960"/>
          </a:xfrm>
          <a:prstGeom prst="ellipse">
            <a:avLst/>
          </a:prstGeom>
          <a:solidFill>
            <a:srgbClr val="E8479B">
              <a:alpha val="25000"/>
            </a:srgbClr>
          </a:solidFill>
          <a:ln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1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Canvas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in women builds stronger families and communities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51760" cy="1508760"/>
          </a:xfrm>
          <a:prstGeom prst="roundRect">
            <a:avLst>
              <a:gd name="adj" fmla="val 8485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60120"/>
            <a:ext cx="548640" cy="54864"/>
          </a:xfrm>
          <a:prstGeom prst="rect">
            <a:avLst/>
          </a:prstGeom>
          <a:solidFill>
            <a:srgbClr val="5B3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1069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44475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empower every woman with the right information, resources and support to build a better future.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08960" y="960120"/>
            <a:ext cx="2651760" cy="1508760"/>
          </a:xfrm>
          <a:prstGeom prst="roundRect">
            <a:avLst>
              <a:gd name="adj" fmla="val 8485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960120"/>
            <a:ext cx="548640" cy="54864"/>
          </a:xfrm>
          <a:prstGeom prst="rect">
            <a:avLst/>
          </a:prstGeom>
          <a:solidFill>
            <a:srgbClr val="E8479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097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1069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246120" y="144475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where every woman has equal access to knowledge, financial independence, healthcare and opportunities.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897880" y="960120"/>
            <a:ext cx="1453896" cy="1508760"/>
          </a:xfrm>
          <a:prstGeom prst="roundRect">
            <a:avLst>
              <a:gd name="adj" fmla="val 6289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17" name="Image 2" descr="/home/claude/crops/x_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005840"/>
            <a:ext cx="1362456" cy="1417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70064" y="960120"/>
            <a:ext cx="1453896" cy="1508760"/>
          </a:xfrm>
          <a:prstGeom prst="roundRect">
            <a:avLst>
              <a:gd name="adj" fmla="val 6289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19" name="Image 3" descr="/home/claude/crops/hero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15784" y="1005840"/>
            <a:ext cx="1362456" cy="1417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65760" y="2606040"/>
            <a:ext cx="3017520" cy="2057400"/>
          </a:xfrm>
          <a:prstGeom prst="roundRect">
            <a:avLst>
              <a:gd name="adj" fmla="val 6222"/>
            </a:avLst>
          </a:prstGeom>
          <a:solidFill>
            <a:srgbClr val="FFF0C2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1576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68680" y="26883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75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Business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502920" y="3090672"/>
            <a:ext cx="2743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students, professionals, entrepreneurs, homemakers. Existing apps are single-focus; AVALON AI is 6-in-1.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and government partnerships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funding and grants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features (future)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474720" y="2606040"/>
            <a:ext cx="5303520" cy="2057400"/>
          </a:xfrm>
          <a:prstGeom prst="roundRect">
            <a:avLst>
              <a:gd name="adj" fmla="val 6222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5" name="Text 18"/>
          <p:cNvSpPr txBox="1"/>
          <p:nvPr/>
        </p:nvSpPr>
        <p:spPr>
          <a:xfrm>
            <a:off x="3611880" y="26883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Requirements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3611880" y="3127248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5B34C9">
              <a:alpha val="15000"/>
            </a:srgbClr>
          </a:solidFill>
          <a:ln w="12700">
            <a:solidFill>
              <a:srgbClr val="5B34C9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3685032" y="32004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4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50,000 - 1,00,000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685032" y="385876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development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330952" y="3127248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E8479B">
              <a:alpha val="15000"/>
            </a:srgbClr>
          </a:solidFill>
          <a:ln w="12700">
            <a:solidFill>
              <a:srgbClr val="E8479B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404104" y="32004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7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10,000 - 20,000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5404104" y="385876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cost: hosting and tools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7050024" y="3127248"/>
            <a:ext cx="1627632" cy="1417320"/>
          </a:xfrm>
          <a:prstGeom prst="roundRect">
            <a:avLst>
              <a:gd name="adj" fmla="val 6452"/>
            </a:avLst>
          </a:prstGeom>
          <a:solidFill>
            <a:srgbClr val="14A3B8">
              <a:alpha val="15000"/>
            </a:srgbClr>
          </a:solidFill>
          <a:ln w="12700">
            <a:solidFill>
              <a:srgbClr val="14A3B8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123176" y="32004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revenue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7123176" y="385876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Partnerships, premium features, CSR funding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19472"/>
            <a:ext cx="457200" cy="2240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1737360" cy="1737360"/>
          </a:xfrm>
          <a:prstGeom prst="ellipse">
            <a:avLst/>
          </a:prstGeom>
          <a:solidFill>
            <a:srgbClr val="FFFFFF">
              <a:alpha val="30000"/>
            </a:srgbClr>
          </a:solidFill>
          <a:ln w="254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228600"/>
            <a:ext cx="822960" cy="822960"/>
          </a:xfrm>
          <a:prstGeom prst="ellipse">
            <a:avLst/>
          </a:prstGeom>
          <a:solidFill>
            <a:srgbClr val="E8479B">
              <a:alpha val="25000"/>
            </a:srgbClr>
          </a:solidFill>
          <a:ln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1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platform - a movement for change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120640" cy="2011680"/>
          </a:xfrm>
          <a:prstGeom prst="roundRect">
            <a:avLst>
              <a:gd name="adj" fmla="val 6364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024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3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target audience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access to education, jobs and skills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financial independence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health awareness and well-being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legal and digital safety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women to real opportunities and support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" y="3154680"/>
            <a:ext cx="365760" cy="365760"/>
          </a:xfrm>
          <a:prstGeom prst="ellipse">
            <a:avLst/>
          </a:prstGeom>
          <a:solidFill>
            <a:srgbClr val="E8479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22783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65760" y="353872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373075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and inclusion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664208" y="310896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84832" y="31546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322783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64208" y="353872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709928" y="373075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income and growth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962656" y="310896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383280" y="3154680"/>
            <a:ext cx="365760" cy="365760"/>
          </a:xfrm>
          <a:prstGeom prst="ellipse">
            <a:avLst/>
          </a:prstGeom>
          <a:solidFill>
            <a:srgbClr val="1FA46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322783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2962656" y="353872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A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3008376" y="373075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communities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261104" y="310896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81728" y="3154680"/>
            <a:ext cx="365760" cy="365760"/>
          </a:xfrm>
          <a:prstGeom prst="ellipse">
            <a:avLst/>
          </a:prstGeom>
          <a:solidFill>
            <a:srgbClr val="5B34C9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2783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261104" y="353872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4306824" y="373075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5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well-being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669280" y="960120"/>
            <a:ext cx="1568196" cy="2560320"/>
          </a:xfrm>
          <a:prstGeom prst="roundRect">
            <a:avLst>
              <a:gd name="adj" fmla="val 5831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30" name="Image 4" descr="/home/claude/crops/futur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15000" y="1005840"/>
            <a:ext cx="1476756" cy="246888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255764" y="960120"/>
            <a:ext cx="1568196" cy="2560320"/>
          </a:xfrm>
          <a:prstGeom prst="roundRect">
            <a:avLst>
              <a:gd name="adj" fmla="val 5831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32" name="Image 5" descr="/home/claude/crops/t1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01484" y="1005840"/>
            <a:ext cx="1476756" cy="246888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669280" y="3584448"/>
            <a:ext cx="3108960" cy="438912"/>
          </a:xfrm>
          <a:prstGeom prst="roundRect">
            <a:avLst>
              <a:gd name="adj" fmla="val 29167"/>
            </a:avLst>
          </a:prstGeom>
          <a:solidFill>
            <a:srgbClr val="FFFFFF">
              <a:alpha val="72000"/>
            </a:srgbClr>
          </a:solidFill>
          <a:ln w="15875">
            <a:solidFill>
              <a:srgbClr val="E8479B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34" name="Text 26"/>
          <p:cNvSpPr txBox="1"/>
          <p:nvPr/>
        </p:nvSpPr>
        <p:spPr>
          <a:xfrm>
            <a:off x="5760720" y="358444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students, working women, entrepreneurs, homemakers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65760" y="4160520"/>
            <a:ext cx="8412480" cy="502920"/>
          </a:xfrm>
          <a:prstGeom prst="roundRect">
            <a:avLst>
              <a:gd name="adj" fmla="val 49091"/>
            </a:avLst>
          </a:prstGeom>
          <a:solidFill>
            <a:srgbClr val="5B34C9">
              <a:alpha val="92000"/>
            </a:srgbClr>
          </a:solidFill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Stronger Women  &gt;  Stronger Families  &gt;  A Stronger Society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19472"/>
            <a:ext cx="457200" cy="2240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1737360" cy="1737360"/>
          </a:xfrm>
          <a:prstGeom prst="ellipse">
            <a:avLst/>
          </a:prstGeom>
          <a:solidFill>
            <a:srgbClr val="FFFFFF">
              <a:alpha val="30000"/>
            </a:srgbClr>
          </a:solidFill>
          <a:ln w="254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228600"/>
            <a:ext cx="822960" cy="822960"/>
          </a:xfrm>
          <a:prstGeom prst="ellipse">
            <a:avLst/>
          </a:prstGeom>
          <a:solidFill>
            <a:srgbClr val="E8479B">
              <a:alpha val="25000"/>
            </a:srgbClr>
          </a:solidFill>
          <a:ln w="1905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46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1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 |  Code  | 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120640" cy="3017520"/>
          </a:xfrm>
          <a:prstGeom prst="roundRect">
            <a:avLst>
              <a:gd name="adj" fmla="val 4242"/>
            </a:avLst>
          </a:prstGeom>
          <a:solidFill>
            <a:srgbClr val="FFFFFF">
              <a:alpha val="72000"/>
            </a:srgbClr>
          </a:solidFill>
          <a:ln w="1905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0972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Women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unwomen.org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Women &amp; Child Development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wcd.nic.in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 portal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india.gov.in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who.int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(gender data)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worldbank.org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datasets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3A1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  </a:t>
            </a:r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scikit-learn.org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5120640" cy="566928"/>
          </a:xfrm>
          <a:prstGeom prst="roundRect">
            <a:avLst>
              <a:gd name="adj" fmla="val 50000"/>
            </a:avLst>
          </a:prstGeom>
          <a:solidFill>
            <a:srgbClr val="1B1038">
              <a:alpha val="90000"/>
            </a:srgbClr>
          </a:solidFill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41148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  </a:t>
            </a:r>
            <a:pPr algn="ctr" indent="0" marL="0">
              <a:buNone/>
            </a:pPr>
            <a:r>
              <a:rPr lang="en-US" sz="1100" dirty="0">
                <a:solidFill>
                  <a:srgbClr val="F7A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QUANTIX  |  DEX26180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0" y="960120"/>
            <a:ext cx="1568196" cy="2788920"/>
          </a:xfrm>
          <a:prstGeom prst="roundRect">
            <a:avLst>
              <a:gd name="adj" fmla="val 5831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11" name="Image 0" descr="/home/claude/crops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1005840"/>
            <a:ext cx="1476756" cy="2697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255764" y="960120"/>
            <a:ext cx="1568196" cy="2788920"/>
          </a:xfrm>
          <a:prstGeom prst="roundRect">
            <a:avLst>
              <a:gd name="adj" fmla="val 5831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13" name="Image 1" descr="/home/claude/crops/t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01484" y="1005840"/>
            <a:ext cx="1476756" cy="2697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0" y="3840480"/>
            <a:ext cx="3108960" cy="841248"/>
          </a:xfrm>
          <a:prstGeom prst="roundRect">
            <a:avLst>
              <a:gd name="adj" fmla="val 15217"/>
            </a:avLst>
          </a:prstGeom>
          <a:solidFill>
            <a:srgbClr val="FFFFFF">
              <a:alpha val="72000"/>
            </a:srgbClr>
          </a:solidFill>
          <a:ln w="15875">
            <a:solidFill>
              <a:srgbClr val="1B1038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4B2BA0">
                <a:alpha val="2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0233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386791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
</a:t>
            </a:r>
            <a:pPr indent="0" marL="0">
              <a:buNone/>
            </a:pPr>
            <a:r>
              <a:rPr lang="en-US" sz="950" dirty="0">
                <a:solidFill>
                  <a:srgbClr val="E84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github.com/&lt;your-team&gt;/avalon-ai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919472"/>
            <a:ext cx="457200" cy="22402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AVALON AI - Team QUANTIX</dc:title>
  <dc:subject>PptxGenJS Presentation</dc:subject>
  <dc:creator>Team QUANTIX</dc:creator>
  <cp:lastModifiedBy>Team QUANTIX</cp:lastModifiedBy>
  <cp:revision>1</cp:revision>
  <dcterms:created xsi:type="dcterms:W3CDTF">2026-10-18T16:28:31Z</dcterms:created>
  <dcterms:modified xsi:type="dcterms:W3CDTF">2026-10-18T16:28:31Z</dcterms:modified>
</cp:coreProperties>
</file>